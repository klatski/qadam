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1" r:id="rId6"/>
    <p:sldId id="262" r:id="rId7"/>
    <p:sldId id="264" r:id="rId8"/>
  </p:sldIdLst>
  <p:sldSz cx="12192000" cy="6858000"/>
  <p:notesSz cx="6858000" cy="9144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CA96"/>
    <a:srgbClr val="232323"/>
    <a:srgbClr val="262626"/>
    <a:srgbClr val="1DB954"/>
    <a:srgbClr val="1212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D71A65-DC94-AA95-4BF8-36FBB949FB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C663020-BDA7-9909-7ECF-BB01FBE2CD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D76084-1E00-CA6F-B097-CF9FE8CA1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FB9F-7508-4C35-AF5E-076C7972CBC7}" type="datetimeFigureOut">
              <a:rPr lang="ru-KZ" smtClean="0"/>
              <a:t>17.02.2026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6A0EA8-AEE4-B2FC-3AFB-9C4C79F6A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64B3EC-7256-0AE2-B29E-81E299F06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72E80-7300-439F-BCFD-86B51E90F33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619535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FEAB6F-7AD3-C29C-2813-5936B2604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6B9C18-8BE2-57AA-2605-BA64344DF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380A48-89A9-3696-B03E-CA4F29409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FB9F-7508-4C35-AF5E-076C7972CBC7}" type="datetimeFigureOut">
              <a:rPr lang="ru-KZ" smtClean="0"/>
              <a:t>17.02.2026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EF1823-8C1E-9AB5-735B-77CE7CE0E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25CF61F-EA02-55B7-125B-A3C3828AB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72E80-7300-439F-BCFD-86B51E90F33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119857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9094A7-A90D-F1F6-32B7-C96ACC357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1F78300-6B78-2FA7-4519-F1F97068F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4BAD4F-A2C6-64BF-6BEF-1776FDA15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FB9F-7508-4C35-AF5E-076C7972CBC7}" type="datetimeFigureOut">
              <a:rPr lang="ru-KZ" smtClean="0"/>
              <a:t>17.02.2026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BDF5C0-0EA7-9E3A-33C9-2FF615665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40C061-33CA-3DA8-7297-4377F3285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72E80-7300-439F-BCFD-86B51E90F33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76468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CD3D3C-851A-78C8-084D-FDC501A0A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B30BC7-7F36-B614-3BE7-8B674937F8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1C877E2-1408-6526-0B5B-A5E17D051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FB007BF-D293-057F-CC1F-5ABD92DEE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FB9F-7508-4C35-AF5E-076C7972CBC7}" type="datetimeFigureOut">
              <a:rPr lang="ru-KZ" smtClean="0"/>
              <a:t>17.02.2026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C86E79-5F78-A752-F86E-0E150747A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E030C81-2599-9C53-79FD-33B1871DC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72E80-7300-439F-BCFD-86B51E90F33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534379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808AA6-0BC3-45C0-85C4-A097B0A8F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F5B15B8-4FDE-040E-69AD-728BE768B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DE66584-A646-BC80-0544-ABB0B2DB44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B190E8F-1B38-193C-49AA-C1DC395B8C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9B68E35-2D8E-1E28-529A-B2FA4288CD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FF943BB-724B-7471-250C-649FB924B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FB9F-7508-4C35-AF5E-076C7972CBC7}" type="datetimeFigureOut">
              <a:rPr lang="ru-KZ" smtClean="0"/>
              <a:t>17.02.2026</a:t>
            </a:fld>
            <a:endParaRPr lang="ru-KZ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A508DB4-4300-68F8-509B-94103F589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32432EC-A0D1-CFD3-307A-40B8B343F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72E80-7300-439F-BCFD-86B51E90F33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201716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05D4FE-BE48-2523-F5E0-6FF930B31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FEB9FED-9AF2-4714-52AA-346E54C3A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FB9F-7508-4C35-AF5E-076C7972CBC7}" type="datetimeFigureOut">
              <a:rPr lang="ru-KZ" smtClean="0"/>
              <a:t>17.02.2026</a:t>
            </a:fld>
            <a:endParaRPr lang="ru-KZ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7E41847-1EEE-C9EA-7699-0C67D2867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D583C90-2139-9585-E7D9-3B4C6E540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72E80-7300-439F-BCFD-86B51E90F33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230020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A051F7B-2D02-819C-3BAB-2CF7BD023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FB9F-7508-4C35-AF5E-076C7972CBC7}" type="datetimeFigureOut">
              <a:rPr lang="ru-KZ" smtClean="0"/>
              <a:t>17.02.2026</a:t>
            </a:fld>
            <a:endParaRPr lang="ru-KZ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BDB4504-F00A-F2CE-6E4C-6723789BE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4E0E0D9-8507-C120-3366-09FEDC382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72E80-7300-439F-BCFD-86B51E90F33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810819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2215DD-5BF0-F9FC-DE0E-C30B8FE5D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B73087-6E38-50C2-B5F1-C85439D81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E79D9E0-62C3-07B2-FB02-3823FF53D1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8376F2E-E365-6F9D-6F99-815337E6F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FB9F-7508-4C35-AF5E-076C7972CBC7}" type="datetimeFigureOut">
              <a:rPr lang="ru-KZ" smtClean="0"/>
              <a:t>17.02.2026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C28A683-0806-6DEE-D1D0-8214FAEAA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12A2E6D-FD3A-3E3C-1BB6-D55C11F1A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72E80-7300-439F-BCFD-86B51E90F33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947969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18FFA5-6B3A-BCC0-0575-B924C8AC2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0B40CA6-6990-7143-5EE5-26A62CCDD4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6BFC3B5-7F8D-97AE-0A3B-5F8ED6DBB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1DECB6B-3994-39B1-C7EF-4B34EDE52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FB9F-7508-4C35-AF5E-076C7972CBC7}" type="datetimeFigureOut">
              <a:rPr lang="ru-KZ" smtClean="0"/>
              <a:t>17.02.2026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15A45EF-07A4-C50E-36DB-7CEDCAC7C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842351A-A663-EB49-2CB5-56872C2C8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72E80-7300-439F-BCFD-86B51E90F33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040032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9E4C0A-1B95-E62C-A3E1-B444D34D7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F397AB2-F730-CEA4-5D22-B40CD9B978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DE08BC-2175-D519-4DB9-6E5A5F8D1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FB9F-7508-4C35-AF5E-076C7972CBC7}" type="datetimeFigureOut">
              <a:rPr lang="ru-KZ" smtClean="0"/>
              <a:t>17.02.2026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6305997-2ED0-C8BA-2B38-8F136478D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0652C2-84DC-E0DA-06FC-1B1FE3480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72E80-7300-439F-BCFD-86B51E90F33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53119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FE7C9EF-26DA-20E1-C82E-D07475C97E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1C03CCD-0ECE-65CD-3B32-81B13479B4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33F6B0-D0CE-E03D-CB72-FF51ED3BB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FB9F-7508-4C35-AF5E-076C7972CBC7}" type="datetimeFigureOut">
              <a:rPr lang="ru-KZ" smtClean="0"/>
              <a:t>17.02.2026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FEB883C-7ACE-21D1-E64C-DE2C6DDEA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3F74FE-66CE-E2DD-9E91-C78DC2DA7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72E80-7300-439F-BCFD-86B51E90F33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205618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937A09-973C-3614-4C7F-576DFFC8A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E2D17BA-7CDE-0CF8-9D64-ECCCFF07AE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D49D5C-51D9-F4FB-ABFA-3783A4EFCA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E5FB9F-7508-4C35-AF5E-076C7972CBC7}" type="datetimeFigureOut">
              <a:rPr lang="ru-KZ" smtClean="0"/>
              <a:t>17.02.2026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0DFFFA-DCBC-60DE-5CB1-224065F404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604FF9-1BE1-F863-75CF-CC38820ACE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072E80-7300-439F-BCFD-86B51E90F33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395028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hdphoto" Target="../media/hdphoto1.wdp"/><Relationship Id="rId7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 descr="артапр">
            <a:extLst>
              <a:ext uri="{FF2B5EF4-FFF2-40B4-BE49-F238E27FC236}">
                <a16:creationId xmlns:a16="http://schemas.microsoft.com/office/drawing/2014/main" id="{DAF7140A-7A7F-A956-B3F5-F499AD45902F}"/>
              </a:ext>
            </a:extLst>
          </p:cNvPr>
          <p:cNvSpPr/>
          <p:nvPr/>
        </p:nvSpPr>
        <p:spPr>
          <a:xfrm>
            <a:off x="12876222" y="4286226"/>
            <a:ext cx="4768390" cy="394927"/>
          </a:xfrm>
          <a:prstGeom prst="rect">
            <a:avLst/>
          </a:prstGeom>
          <a:solidFill>
            <a:srgbClr val="7CCA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749B85-8200-9A09-2D5B-4E808D7C08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368513" y="3073138"/>
            <a:ext cx="3073137" cy="968604"/>
          </a:xfrm>
        </p:spPr>
        <p:txBody>
          <a:bodyPr/>
          <a:lstStyle/>
          <a:p>
            <a:r>
              <a:rPr lang="en-US" b="1" dirty="0">
                <a:solidFill>
                  <a:srgbClr val="7CCA96"/>
                </a:solidFill>
              </a:rPr>
              <a:t>Qadam</a:t>
            </a:r>
            <a:endParaRPr lang="ru-KZ" b="1" dirty="0">
              <a:solidFill>
                <a:srgbClr val="7CCA96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FE1E613-11BC-920F-CCEB-A678CAB43A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76222" y="4306238"/>
            <a:ext cx="4810815" cy="394927"/>
          </a:xfrm>
        </p:spPr>
        <p:txBody>
          <a:bodyPr>
            <a:normAutofit lnSpcReduction="10000"/>
          </a:bodyPr>
          <a:lstStyle/>
          <a:p>
            <a:r>
              <a:rPr lang="ru-RU" b="1" i="1" dirty="0" err="1">
                <a:solidFill>
                  <a:srgbClr val="262626"/>
                </a:solidFill>
              </a:rPr>
              <a:t>Qadam</a:t>
            </a:r>
            <a:r>
              <a:rPr lang="ru-RU" b="1" i="1" dirty="0">
                <a:solidFill>
                  <a:srgbClr val="262626"/>
                </a:solidFill>
              </a:rPr>
              <a:t>: </a:t>
            </a:r>
            <a:r>
              <a:rPr lang="en-US" b="1" i="1" dirty="0">
                <a:solidFill>
                  <a:srgbClr val="262626"/>
                </a:solidFill>
              </a:rPr>
              <a:t>Smart City Risk Engine</a:t>
            </a:r>
            <a:endParaRPr lang="ru-KZ" b="1" i="1" dirty="0">
              <a:solidFill>
                <a:srgbClr val="262626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BA38C47-3BE7-E923-0140-055CE56601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9031" b="58941" l="32423" r="67393"/>
                    </a14:imgEffect>
                  </a14:imgLayer>
                </a14:imgProps>
              </a:ext>
            </a:extLst>
          </a:blip>
          <a:srcRect l="28052" t="25292" r="28236" b="37320"/>
          <a:stretch>
            <a:fillRect/>
          </a:stretch>
        </p:blipFill>
        <p:spPr>
          <a:xfrm rot="10800000">
            <a:off x="4597136" y="-2659961"/>
            <a:ext cx="2997723" cy="25640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83649A-E1BB-0A2B-0D46-A74D38E4B769}"/>
              </a:ext>
            </a:extLst>
          </p:cNvPr>
          <p:cNvSpPr txBox="1"/>
          <p:nvPr/>
        </p:nvSpPr>
        <p:spPr>
          <a:xfrm>
            <a:off x="2544055" y="6858000"/>
            <a:ext cx="710388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Наш проект — это система умного города, которая анализирует уровень риска в разных зонах города и помогает людям выбирать более безопасные места и маршруты.</a:t>
            </a:r>
            <a:endParaRPr lang="ru-KZ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633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E0845-14B5-A4E7-DCBC-62B355F89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 descr="артапр">
            <a:extLst>
              <a:ext uri="{FF2B5EF4-FFF2-40B4-BE49-F238E27FC236}">
                <a16:creationId xmlns:a16="http://schemas.microsoft.com/office/drawing/2014/main" id="{C4C1DE54-0CF9-7B6C-3279-9BD1863E25C4}"/>
              </a:ext>
            </a:extLst>
          </p:cNvPr>
          <p:cNvSpPr/>
          <p:nvPr/>
        </p:nvSpPr>
        <p:spPr>
          <a:xfrm>
            <a:off x="3874417" y="3909516"/>
            <a:ext cx="4768390" cy="394927"/>
          </a:xfrm>
          <a:prstGeom prst="rect">
            <a:avLst/>
          </a:prstGeom>
          <a:solidFill>
            <a:srgbClr val="7CCA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1CFBB6-9CE0-B660-9C75-BD41DE2A80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39561" y="2855999"/>
            <a:ext cx="3073137" cy="968604"/>
          </a:xfrm>
        </p:spPr>
        <p:txBody>
          <a:bodyPr/>
          <a:lstStyle/>
          <a:p>
            <a:r>
              <a:rPr lang="en-US" b="1" dirty="0">
                <a:solidFill>
                  <a:srgbClr val="7CCA96"/>
                </a:solidFill>
              </a:rPr>
              <a:t>Qadam</a:t>
            </a:r>
            <a:endParaRPr lang="ru-KZ" b="1" dirty="0">
              <a:solidFill>
                <a:srgbClr val="7CCA96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5B8AB86-35EF-30B0-333D-F0E91BA625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74417" y="3929528"/>
            <a:ext cx="4810815" cy="394927"/>
          </a:xfrm>
        </p:spPr>
        <p:txBody>
          <a:bodyPr>
            <a:normAutofit lnSpcReduction="10000"/>
          </a:bodyPr>
          <a:lstStyle/>
          <a:p>
            <a:r>
              <a:rPr lang="ru-RU" b="1" i="1" dirty="0" err="1">
                <a:solidFill>
                  <a:srgbClr val="262626"/>
                </a:solidFill>
              </a:rPr>
              <a:t>Qadam</a:t>
            </a:r>
            <a:r>
              <a:rPr lang="ru-RU" b="1" i="1" dirty="0">
                <a:solidFill>
                  <a:srgbClr val="262626"/>
                </a:solidFill>
              </a:rPr>
              <a:t>: </a:t>
            </a:r>
            <a:r>
              <a:rPr lang="en-US" b="1" i="1" dirty="0">
                <a:solidFill>
                  <a:srgbClr val="262626"/>
                </a:solidFill>
              </a:rPr>
              <a:t>Smart City Risk Engine</a:t>
            </a:r>
            <a:endParaRPr lang="ru-KZ" b="1" i="1" dirty="0">
              <a:solidFill>
                <a:srgbClr val="262626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D68A136-5E14-61E6-314D-1DC8010675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9031" b="58941" l="32423" r="67393"/>
                    </a14:imgEffect>
                  </a14:imgLayer>
                </a14:imgProps>
              </a:ext>
            </a:extLst>
          </a:blip>
          <a:srcRect l="28052" t="25292" r="28236" b="37320"/>
          <a:stretch>
            <a:fillRect/>
          </a:stretch>
        </p:blipFill>
        <p:spPr>
          <a:xfrm>
            <a:off x="4597138" y="543542"/>
            <a:ext cx="2997723" cy="25640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37F5AA3-0290-3FF6-9CB8-B8656A324320}"/>
              </a:ext>
            </a:extLst>
          </p:cNvPr>
          <p:cNvSpPr txBox="1"/>
          <p:nvPr/>
        </p:nvSpPr>
        <p:spPr>
          <a:xfrm>
            <a:off x="2624187" y="4604482"/>
            <a:ext cx="710388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Наш проект — это интеллектуальная система умного города, которая анализирует текущий уровень риска в различных зонах и прогнозирует возможные опасные ситуации, помогая жителям выбирать наиболее безопасные места и маршруты.</a:t>
            </a:r>
            <a:endParaRPr lang="ru-KZ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79846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 descr="артапр">
            <a:extLst>
              <a:ext uri="{FF2B5EF4-FFF2-40B4-BE49-F238E27FC236}">
                <a16:creationId xmlns:a16="http://schemas.microsoft.com/office/drawing/2014/main" id="{9C3E5A92-8653-A008-2029-0BB81124A007}"/>
              </a:ext>
            </a:extLst>
          </p:cNvPr>
          <p:cNvSpPr/>
          <p:nvPr/>
        </p:nvSpPr>
        <p:spPr>
          <a:xfrm>
            <a:off x="2678463" y="849865"/>
            <a:ext cx="3099335" cy="647248"/>
          </a:xfrm>
          <a:prstGeom prst="rect">
            <a:avLst/>
          </a:prstGeom>
          <a:solidFill>
            <a:srgbClr val="7CCA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20B67C-7982-0314-BB3F-10E6029F9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9638" y="849865"/>
            <a:ext cx="3239050" cy="647248"/>
          </a:xfrm>
        </p:spPr>
        <p:txBody>
          <a:bodyPr>
            <a:normAutofit fontScale="90000"/>
          </a:bodyPr>
          <a:lstStyle/>
          <a:p>
            <a:r>
              <a:rPr lang="ru-RU" b="1" i="1" dirty="0">
                <a:solidFill>
                  <a:srgbClr val="232323"/>
                </a:solidFill>
              </a:rPr>
              <a:t>Проблема</a:t>
            </a:r>
            <a:endParaRPr lang="ru-KZ" b="1" i="1" dirty="0">
              <a:solidFill>
                <a:srgbClr val="232323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5D7320-59AE-EB51-54C5-0E7639014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389" y="2262433"/>
            <a:ext cx="9611413" cy="4117320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Сервисы работают только на нынешний промежуток времени.</a:t>
            </a:r>
            <a:r>
              <a:rPr lang="ru-RU" dirty="0">
                <a:solidFill>
                  <a:schemeClr val="bg1"/>
                </a:solidFill>
              </a:rPr>
              <a:t> Например, 2GIS показывает пробку, когда ты в ней стоишь или 112 шлет СМС, когда событие уже случилось.</a:t>
            </a:r>
          </a:p>
          <a:p>
            <a:r>
              <a:rPr lang="ru-RU" b="1" dirty="0">
                <a:solidFill>
                  <a:schemeClr val="bg1"/>
                </a:solidFill>
              </a:rPr>
              <a:t>Слепая зона. </a:t>
            </a:r>
            <a:r>
              <a:rPr lang="ru-RU" dirty="0">
                <a:solidFill>
                  <a:schemeClr val="bg1"/>
                </a:solidFill>
              </a:rPr>
              <a:t>Люди идут в ТЦ или парки, не зная, что там сейчас давка или небезопасно. </a:t>
            </a:r>
          </a:p>
          <a:p>
            <a:r>
              <a:rPr lang="ru-RU" b="1" dirty="0">
                <a:solidFill>
                  <a:schemeClr val="bg1"/>
                </a:solidFill>
              </a:rPr>
              <a:t>Ограничение выбора. </a:t>
            </a:r>
            <a:r>
              <a:rPr lang="ru-RU" dirty="0">
                <a:solidFill>
                  <a:schemeClr val="bg1"/>
                </a:solidFill>
              </a:rPr>
              <a:t>Нету альтернативы, то есть, человек знающий про скопление людей или час пик, не получает другого варианта.</a:t>
            </a:r>
            <a:endParaRPr lang="ru-KZ" dirty="0">
              <a:solidFill>
                <a:schemeClr val="bg1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CBB943C-FF11-165E-A16E-ABAF3D0BB8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9031" b="58941" l="32423" r="67393"/>
                    </a14:imgEffect>
                  </a14:imgLayer>
                </a14:imgProps>
              </a:ext>
            </a:extLst>
          </a:blip>
          <a:srcRect l="28052" t="25292" r="28236" b="37320"/>
          <a:stretch>
            <a:fillRect/>
          </a:stretch>
        </p:blipFill>
        <p:spPr>
          <a:xfrm>
            <a:off x="1" y="84544"/>
            <a:ext cx="2678462" cy="2291012"/>
          </a:xfrm>
          <a:prstGeom prst="rect">
            <a:avLst/>
          </a:prstGeom>
        </p:spPr>
      </p:pic>
      <p:pic>
        <p:nvPicPr>
          <p:cNvPr id="19" name="Рисунок 18" descr="Секундомер">
            <a:extLst>
              <a:ext uri="{FF2B5EF4-FFF2-40B4-BE49-F238E27FC236}">
                <a16:creationId xmlns:a16="http://schemas.microsoft.com/office/drawing/2014/main" id="{F9AA6D61-B542-5D83-7023-D0733C52A6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73223" y="2431416"/>
            <a:ext cx="914400" cy="914400"/>
          </a:xfrm>
          <a:prstGeom prst="rect">
            <a:avLst/>
          </a:prstGeom>
        </p:spPr>
      </p:pic>
      <p:pic>
        <p:nvPicPr>
          <p:cNvPr id="21" name="Рисунок 20" descr="Слепой">
            <a:extLst>
              <a:ext uri="{FF2B5EF4-FFF2-40B4-BE49-F238E27FC236}">
                <a16:creationId xmlns:a16="http://schemas.microsoft.com/office/drawing/2014/main" id="{6E6026AE-65B1-B0E4-6EC3-6E2D1A486C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73223" y="3740913"/>
            <a:ext cx="914400" cy="914400"/>
          </a:xfrm>
          <a:prstGeom prst="rect">
            <a:avLst/>
          </a:prstGeom>
        </p:spPr>
      </p:pic>
      <p:pic>
        <p:nvPicPr>
          <p:cNvPr id="23" name="Рисунок 22" descr="Маркер">
            <a:extLst>
              <a:ext uri="{FF2B5EF4-FFF2-40B4-BE49-F238E27FC236}">
                <a16:creationId xmlns:a16="http://schemas.microsoft.com/office/drawing/2014/main" id="{6587B7FE-329B-A1F0-2D11-23F711DF4C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39211" y="505041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5142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A2EDAC9-A57A-731A-D976-D32F469EF9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9031" b="58941" l="32423" r="67393"/>
                    </a14:imgEffect>
                  </a14:imgLayer>
                </a14:imgProps>
              </a:ext>
            </a:extLst>
          </a:blip>
          <a:srcRect l="28052" t="25292" r="28236" b="37320"/>
          <a:stretch>
            <a:fillRect/>
          </a:stretch>
        </p:blipFill>
        <p:spPr>
          <a:xfrm>
            <a:off x="1" y="84544"/>
            <a:ext cx="2678462" cy="2291012"/>
          </a:xfrm>
          <a:prstGeom prst="rect">
            <a:avLst/>
          </a:prstGeom>
        </p:spPr>
      </p:pic>
      <p:sp>
        <p:nvSpPr>
          <p:cNvPr id="5" name="Прямоугольник 4" descr="артапр">
            <a:extLst>
              <a:ext uri="{FF2B5EF4-FFF2-40B4-BE49-F238E27FC236}">
                <a16:creationId xmlns:a16="http://schemas.microsoft.com/office/drawing/2014/main" id="{BAB6E600-B904-4494-73D4-980C76FA5463}"/>
              </a:ext>
            </a:extLst>
          </p:cNvPr>
          <p:cNvSpPr/>
          <p:nvPr/>
        </p:nvSpPr>
        <p:spPr>
          <a:xfrm>
            <a:off x="2678464" y="849865"/>
            <a:ext cx="5258906" cy="647248"/>
          </a:xfrm>
          <a:prstGeom prst="rect">
            <a:avLst/>
          </a:prstGeom>
          <a:solidFill>
            <a:srgbClr val="7CCA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77BCE4A7-F241-EA9A-ADC2-675F6F0F8A2A}"/>
              </a:ext>
            </a:extLst>
          </p:cNvPr>
          <p:cNvSpPr txBox="1">
            <a:spLocks/>
          </p:cNvSpPr>
          <p:nvPr/>
        </p:nvSpPr>
        <p:spPr>
          <a:xfrm>
            <a:off x="2751357" y="906426"/>
            <a:ext cx="5638499" cy="647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i="1" dirty="0">
                <a:solidFill>
                  <a:srgbClr val="232323"/>
                </a:solidFill>
              </a:rPr>
              <a:t>Цель и концепция</a:t>
            </a:r>
            <a:endParaRPr lang="ru-KZ" b="1" i="1" dirty="0">
              <a:solidFill>
                <a:srgbClr val="232323"/>
              </a:solidFill>
            </a:endParaRP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602D2EFD-DEA5-2AC5-82B8-AD22A6D159D9}"/>
              </a:ext>
            </a:extLst>
          </p:cNvPr>
          <p:cNvSpPr txBox="1">
            <a:spLocks/>
          </p:cNvSpPr>
          <p:nvPr/>
        </p:nvSpPr>
        <p:spPr>
          <a:xfrm>
            <a:off x="2678462" y="1610235"/>
            <a:ext cx="6163879" cy="916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>
                <a:solidFill>
                  <a:schemeClr val="bg1"/>
                </a:solidFill>
              </a:rPr>
              <a:t>Сделать каждый «шаг» (</a:t>
            </a:r>
            <a:r>
              <a:rPr lang="ru-RU" b="1" dirty="0" err="1">
                <a:solidFill>
                  <a:schemeClr val="bg1"/>
                </a:solidFill>
              </a:rPr>
              <a:t>Qadam</a:t>
            </a:r>
            <a:r>
              <a:rPr lang="ru-RU" b="1" dirty="0">
                <a:solidFill>
                  <a:schemeClr val="bg1"/>
                </a:solidFill>
              </a:rPr>
              <a:t>) предсказуемым.</a:t>
            </a:r>
            <a:endParaRPr lang="ru-KZ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617548-B093-7C8F-F0D8-F697BE9774D5}"/>
              </a:ext>
            </a:extLst>
          </p:cNvPr>
          <p:cNvSpPr txBox="1"/>
          <p:nvPr/>
        </p:nvSpPr>
        <p:spPr>
          <a:xfrm>
            <a:off x="465118" y="2777345"/>
            <a:ext cx="1109289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800" b="1" dirty="0">
                <a:solidFill>
                  <a:schemeClr val="bg1"/>
                </a:solidFill>
              </a:rPr>
              <a:t>Ключевые метрики:</a:t>
            </a:r>
            <a:endParaRPr lang="ru-RU" sz="28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rgbClr val="7CCA96"/>
                </a:solidFill>
              </a:rPr>
              <a:t>   Urban Risk </a:t>
            </a:r>
            <a:r>
              <a:rPr lang="ru-RU" sz="2800" b="1" dirty="0" err="1">
                <a:solidFill>
                  <a:srgbClr val="7CCA96"/>
                </a:solidFill>
              </a:rPr>
              <a:t>Score</a:t>
            </a:r>
            <a:r>
              <a:rPr lang="ru-RU" sz="2800" b="1" dirty="0">
                <a:solidFill>
                  <a:srgbClr val="7CCA96"/>
                </a:solidFill>
              </a:rPr>
              <a:t>:</a:t>
            </a:r>
            <a:r>
              <a:rPr lang="ru-RU" sz="2800" dirty="0">
                <a:solidFill>
                  <a:srgbClr val="7CCA96"/>
                </a:solidFill>
              </a:rPr>
              <a:t> </a:t>
            </a:r>
            <a:r>
              <a:rPr lang="ru-RU" sz="2800" dirty="0">
                <a:solidFill>
                  <a:schemeClr val="bg1"/>
                </a:solidFill>
              </a:rPr>
              <a:t>Оценка зоны от 0 до 100%.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rgbClr val="7CCA96"/>
                </a:solidFill>
              </a:rPr>
              <a:t>   Safe Time:</a:t>
            </a:r>
            <a:r>
              <a:rPr lang="ru-RU" sz="2800" dirty="0">
                <a:solidFill>
                  <a:srgbClr val="7CCA96"/>
                </a:solidFill>
              </a:rPr>
              <a:t> </a:t>
            </a:r>
            <a:r>
              <a:rPr lang="ru-RU" sz="2800" dirty="0">
                <a:solidFill>
                  <a:schemeClr val="bg1"/>
                </a:solidFill>
              </a:rPr>
              <a:t>Окно безопасного посещения.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rgbClr val="7CCA96"/>
                </a:solidFill>
              </a:rPr>
              <a:t>   Smart </a:t>
            </a:r>
            <a:r>
              <a:rPr lang="ru-RU" sz="2800" b="1" dirty="0" err="1">
                <a:solidFill>
                  <a:srgbClr val="7CCA96"/>
                </a:solidFill>
              </a:rPr>
              <a:t>Alternatives</a:t>
            </a:r>
            <a:r>
              <a:rPr lang="ru-RU" sz="2800" b="1" dirty="0">
                <a:solidFill>
                  <a:srgbClr val="7CCA96"/>
                </a:solidFill>
              </a:rPr>
              <a:t>:</a:t>
            </a:r>
            <a:r>
              <a:rPr lang="ru-RU" sz="2800" dirty="0">
                <a:solidFill>
                  <a:srgbClr val="7CCA96"/>
                </a:solidFill>
              </a:rPr>
              <a:t> </a:t>
            </a:r>
            <a:r>
              <a:rPr lang="ru-RU" sz="2800" dirty="0">
                <a:solidFill>
                  <a:schemeClr val="bg1"/>
                </a:solidFill>
              </a:rPr>
              <a:t>ИИ-подбор похожих, но пустых мест.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rgbClr val="7CCA96"/>
                </a:solidFill>
              </a:rPr>
              <a:t>Zone </a:t>
            </a:r>
            <a:r>
              <a:rPr lang="ru-RU" sz="2800" b="1" dirty="0" err="1">
                <a:solidFill>
                  <a:srgbClr val="7CCA96"/>
                </a:solidFill>
              </a:rPr>
              <a:t>Classification</a:t>
            </a:r>
            <a:r>
              <a:rPr lang="ru-RU" sz="2800" b="1" dirty="0">
                <a:solidFill>
                  <a:srgbClr val="7CCA96"/>
                </a:solidFill>
              </a:rPr>
              <a:t>: </a:t>
            </a:r>
            <a:r>
              <a:rPr lang="ru-RU" sz="2800" dirty="0">
                <a:solidFill>
                  <a:schemeClr val="bg1"/>
                </a:solidFill>
              </a:rPr>
              <a:t>Автоматическая классификация зоны.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7CCA96"/>
                </a:solidFill>
              </a:rPr>
              <a:t>Predictive Alert</a:t>
            </a:r>
            <a:r>
              <a:rPr lang="ru-RU" sz="2800" b="1" dirty="0">
                <a:solidFill>
                  <a:srgbClr val="7CCA96"/>
                </a:solidFill>
              </a:rPr>
              <a:t>: </a:t>
            </a:r>
            <a:r>
              <a:rPr lang="ru-RU" sz="2800" dirty="0">
                <a:solidFill>
                  <a:schemeClr val="bg1"/>
                </a:solidFill>
              </a:rPr>
              <a:t>Прогнозирование возможных опасных ситуаций</a:t>
            </a:r>
            <a:endParaRPr lang="ru-RU" sz="2800" b="1" dirty="0">
              <a:solidFill>
                <a:srgbClr val="7CCA96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ru-RU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31944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DA5FD-7C11-EEA4-5940-B2F66871B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0360FC3-AA72-D35F-EC49-D5744DFA6D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9031" b="58941" l="32423" r="67393"/>
                    </a14:imgEffect>
                  </a14:imgLayer>
                </a14:imgProps>
              </a:ext>
            </a:extLst>
          </a:blip>
          <a:srcRect l="28052" t="25292" r="28236" b="37320"/>
          <a:stretch>
            <a:fillRect/>
          </a:stretch>
        </p:blipFill>
        <p:spPr>
          <a:xfrm>
            <a:off x="9313683" y="84544"/>
            <a:ext cx="2678462" cy="2291012"/>
          </a:xfrm>
          <a:prstGeom prst="rect">
            <a:avLst/>
          </a:prstGeom>
        </p:spPr>
      </p:pic>
      <p:sp>
        <p:nvSpPr>
          <p:cNvPr id="5" name="Прямоугольник 4" descr="артапр">
            <a:extLst>
              <a:ext uri="{FF2B5EF4-FFF2-40B4-BE49-F238E27FC236}">
                <a16:creationId xmlns:a16="http://schemas.microsoft.com/office/drawing/2014/main" id="{8ABF9AC9-DAD2-E3D0-EF1E-ACA1CE781A75}"/>
              </a:ext>
            </a:extLst>
          </p:cNvPr>
          <p:cNvSpPr/>
          <p:nvPr/>
        </p:nvSpPr>
        <p:spPr>
          <a:xfrm>
            <a:off x="4054777" y="793304"/>
            <a:ext cx="5258906" cy="647248"/>
          </a:xfrm>
          <a:prstGeom prst="rect">
            <a:avLst/>
          </a:prstGeom>
          <a:solidFill>
            <a:srgbClr val="7CCA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B42907F4-B93A-4F67-FB82-7F5450332F94}"/>
              </a:ext>
            </a:extLst>
          </p:cNvPr>
          <p:cNvSpPr txBox="1">
            <a:spLocks/>
          </p:cNvSpPr>
          <p:nvPr/>
        </p:nvSpPr>
        <p:spPr>
          <a:xfrm>
            <a:off x="4127670" y="849865"/>
            <a:ext cx="5638499" cy="647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i="1" dirty="0">
                <a:solidFill>
                  <a:srgbClr val="232323"/>
                </a:solidFill>
              </a:rPr>
              <a:t>Как это работает</a:t>
            </a:r>
            <a:endParaRPr lang="ru-KZ" b="1" i="1" dirty="0">
              <a:solidFill>
                <a:srgbClr val="232323"/>
              </a:solidFill>
            </a:endParaRP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34BC7233-760F-4BA4-9407-C841CC81393D}"/>
              </a:ext>
            </a:extLst>
          </p:cNvPr>
          <p:cNvSpPr txBox="1">
            <a:spLocks/>
          </p:cNvSpPr>
          <p:nvPr/>
        </p:nvSpPr>
        <p:spPr>
          <a:xfrm>
            <a:off x="7910338" y="1691237"/>
            <a:ext cx="6163879" cy="916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>
                <a:solidFill>
                  <a:schemeClr val="bg1"/>
                </a:solidFill>
              </a:rPr>
              <a:t>Логика</a:t>
            </a:r>
            <a:endParaRPr lang="ru-KZ" dirty="0">
              <a:solidFill>
                <a:schemeClr val="bg1"/>
              </a:solidFill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891EBE7B-3137-2570-5696-3F701BC9B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9868" y="2488678"/>
            <a:ext cx="9907571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KZ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Пользователь</a:t>
            </a:r>
            <a:r>
              <a:rPr kumimoji="0" lang="ru-KZ" altLang="ru-KZ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тыкает на точку на карте.</a:t>
            </a:r>
          </a:p>
          <a:p>
            <a:pPr marL="514350" marR="0" lvl="0" indent="-51435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KZ" altLang="ru-KZ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Система выдает индекс риска (</a:t>
            </a:r>
            <a:r>
              <a:rPr kumimoji="0" lang="ru-KZ" altLang="ru-KZ" sz="2800" i="1" u="none" strike="noStrike" cap="none" normalizeH="0" baseline="0" dirty="0">
                <a:ln>
                  <a:noFill/>
                </a:ln>
                <a:solidFill>
                  <a:srgbClr val="7CCA96"/>
                </a:solidFill>
                <a:effectLst/>
                <a:latin typeface="+mj-lt"/>
              </a:rPr>
              <a:t>Risk </a:t>
            </a:r>
            <a:r>
              <a:rPr kumimoji="0" lang="ru-KZ" altLang="ru-KZ" sz="2800" i="1" u="none" strike="noStrike" cap="none" normalizeH="0" baseline="0" dirty="0" err="1">
                <a:ln>
                  <a:noFill/>
                </a:ln>
                <a:solidFill>
                  <a:srgbClr val="7CCA96"/>
                </a:solidFill>
                <a:effectLst/>
                <a:latin typeface="+mj-lt"/>
              </a:rPr>
              <a:t>Score</a:t>
            </a:r>
            <a:r>
              <a:rPr kumimoji="0" lang="ru-KZ" altLang="ru-KZ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).</a:t>
            </a:r>
          </a:p>
          <a:p>
            <a:pPr marL="514350" marR="0" lvl="0" indent="-51435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KZ" altLang="ru-KZ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Если риск выше </a:t>
            </a:r>
            <a:r>
              <a:rPr kumimoji="0" lang="ru-RU" altLang="ru-KZ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70</a:t>
            </a:r>
            <a:r>
              <a:rPr kumimoji="0" lang="ru-KZ" altLang="ru-KZ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% — </a:t>
            </a:r>
            <a:r>
              <a:rPr kumimoji="0" lang="en-US" altLang="ru-KZ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Qadam</a:t>
            </a:r>
            <a:r>
              <a:rPr kumimoji="0" lang="ru-KZ" altLang="ru-KZ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</a:t>
            </a:r>
            <a:r>
              <a:rPr kumimoji="0" lang="ru-RU" altLang="ru-KZ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идентифицирует как</a:t>
            </a:r>
            <a:r>
              <a:rPr kumimoji="0" lang="ru-KZ" altLang="ru-KZ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«опасный» путь и ищет замену.</a:t>
            </a:r>
          </a:p>
        </p:txBody>
      </p:sp>
    </p:spTree>
    <p:extLst>
      <p:ext uri="{BB962C8B-B14F-4D97-AF65-F5344CB8AC3E}">
        <p14:creationId xmlns:p14="http://schemas.microsoft.com/office/powerpoint/2010/main" val="23145406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B1493-700F-63DE-E1C2-640046459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B6F8536-E8E1-C9E8-136E-B332AE93A3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9031" b="58941" l="32423" r="67393"/>
                    </a14:imgEffect>
                  </a14:imgLayer>
                </a14:imgProps>
              </a:ext>
            </a:extLst>
          </a:blip>
          <a:srcRect l="28052" t="25292" r="28236" b="37320"/>
          <a:stretch>
            <a:fillRect/>
          </a:stretch>
        </p:blipFill>
        <p:spPr>
          <a:xfrm>
            <a:off x="1" y="84544"/>
            <a:ext cx="2678462" cy="2291012"/>
          </a:xfrm>
          <a:prstGeom prst="rect">
            <a:avLst/>
          </a:prstGeom>
        </p:spPr>
      </p:pic>
      <p:sp>
        <p:nvSpPr>
          <p:cNvPr id="5" name="Прямоугольник 4" descr="артапр">
            <a:extLst>
              <a:ext uri="{FF2B5EF4-FFF2-40B4-BE49-F238E27FC236}">
                <a16:creationId xmlns:a16="http://schemas.microsoft.com/office/drawing/2014/main" id="{30B6034D-2F1A-7ED7-2ED7-5CACC4D893E9}"/>
              </a:ext>
            </a:extLst>
          </p:cNvPr>
          <p:cNvSpPr/>
          <p:nvPr/>
        </p:nvSpPr>
        <p:spPr>
          <a:xfrm>
            <a:off x="2678464" y="849865"/>
            <a:ext cx="2489946" cy="647248"/>
          </a:xfrm>
          <a:prstGeom prst="rect">
            <a:avLst/>
          </a:prstGeom>
          <a:solidFill>
            <a:srgbClr val="7CCA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5F835FB3-9C23-0E62-EAD0-B1C6F9B377FC}"/>
              </a:ext>
            </a:extLst>
          </p:cNvPr>
          <p:cNvSpPr txBox="1">
            <a:spLocks/>
          </p:cNvSpPr>
          <p:nvPr/>
        </p:nvSpPr>
        <p:spPr>
          <a:xfrm>
            <a:off x="2751358" y="906426"/>
            <a:ext cx="2489946" cy="647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i="1" dirty="0">
                <a:solidFill>
                  <a:srgbClr val="232323"/>
                </a:solidFill>
              </a:rPr>
              <a:t>Пример</a:t>
            </a:r>
            <a:endParaRPr lang="ru-KZ" b="1" i="1" dirty="0">
              <a:solidFill>
                <a:srgbClr val="232323"/>
              </a:solidFill>
            </a:endParaRP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5CA0A9A3-1FD4-7BC1-C5BF-F9DB0F6C847B}"/>
              </a:ext>
            </a:extLst>
          </p:cNvPr>
          <p:cNvSpPr txBox="1">
            <a:spLocks/>
          </p:cNvSpPr>
          <p:nvPr/>
        </p:nvSpPr>
        <p:spPr>
          <a:xfrm>
            <a:off x="2678462" y="1610235"/>
            <a:ext cx="6163879" cy="916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KZ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8495B3-9765-30F1-553D-8CA3A13438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544" y="2488678"/>
            <a:ext cx="5306857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KZ" altLang="ru-KZ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Хочешь в RIO Mall? </a:t>
            </a:r>
            <a:endParaRPr kumimoji="0" lang="ru-RU" altLang="ru-KZ" sz="2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KZ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- </a:t>
            </a:r>
            <a:r>
              <a:rPr kumimoji="0" lang="ru-KZ" altLang="ru-KZ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Там риск 85%</a:t>
            </a:r>
            <a:endParaRPr kumimoji="0" lang="ru-KZ" altLang="ru-KZ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KZ" altLang="ru-KZ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Иди в </a:t>
            </a:r>
            <a:r>
              <a:rPr kumimoji="0" lang="ru-KZ" altLang="ru-KZ" sz="2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Café</a:t>
            </a:r>
            <a:r>
              <a:rPr kumimoji="0" lang="ru-KZ" altLang="ru-KZ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Neo </a:t>
            </a:r>
            <a:r>
              <a:rPr lang="ru-RU" altLang="ru-KZ" sz="2800" b="1" dirty="0">
                <a:solidFill>
                  <a:schemeClr val="bg1"/>
                </a:solidFill>
                <a:latin typeface="+mj-lt"/>
              </a:rPr>
              <a:t>– там</a:t>
            </a:r>
            <a:r>
              <a:rPr kumimoji="0" lang="ru-KZ" altLang="ru-KZ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30% и сейчас тихо</a:t>
            </a:r>
            <a:endParaRPr kumimoji="0" lang="ru-KZ" altLang="ru-KZ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KZ" altLang="ru-KZ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Одна кнопка </a:t>
            </a:r>
            <a:r>
              <a:rPr kumimoji="0" lang="ru-KZ" altLang="ru-KZ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«Go»</a:t>
            </a:r>
            <a:r>
              <a:rPr kumimoji="0" lang="ru-KZ" altLang="ru-KZ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, чтобы не попадать в замес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D1C615F-D894-F56F-1EB9-5B1E7D8218A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22"/>
          <a:stretch>
            <a:fillRect/>
          </a:stretch>
        </p:blipFill>
        <p:spPr>
          <a:xfrm>
            <a:off x="7098383" y="0"/>
            <a:ext cx="53068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8378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65936-A534-23B2-C0F1-161529E8F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C9EC0F4-DB12-9390-CA76-E6751E6472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9031" b="58941" l="32423" r="67393"/>
                    </a14:imgEffect>
                  </a14:imgLayer>
                </a14:imgProps>
              </a:ext>
            </a:extLst>
          </a:blip>
          <a:srcRect l="28052" t="25292" r="28236" b="37320"/>
          <a:stretch>
            <a:fillRect/>
          </a:stretch>
        </p:blipFill>
        <p:spPr>
          <a:xfrm>
            <a:off x="9571982" y="235372"/>
            <a:ext cx="2678462" cy="2291012"/>
          </a:xfrm>
          <a:prstGeom prst="rect">
            <a:avLst/>
          </a:prstGeom>
        </p:spPr>
      </p:pic>
      <p:sp>
        <p:nvSpPr>
          <p:cNvPr id="5" name="Прямоугольник 4" descr="артапр">
            <a:extLst>
              <a:ext uri="{FF2B5EF4-FFF2-40B4-BE49-F238E27FC236}">
                <a16:creationId xmlns:a16="http://schemas.microsoft.com/office/drawing/2014/main" id="{8AD6108D-C64B-8775-94B5-D73F2CB5B6C5}"/>
              </a:ext>
            </a:extLst>
          </p:cNvPr>
          <p:cNvSpPr/>
          <p:nvPr/>
        </p:nvSpPr>
        <p:spPr>
          <a:xfrm>
            <a:off x="7980104" y="1047828"/>
            <a:ext cx="1591878" cy="647248"/>
          </a:xfrm>
          <a:prstGeom prst="rect">
            <a:avLst/>
          </a:prstGeom>
          <a:solidFill>
            <a:srgbClr val="7CCA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F4099C6-AFDA-BCDE-A8FD-49D32A842E96}"/>
              </a:ext>
            </a:extLst>
          </p:cNvPr>
          <p:cNvSpPr txBox="1">
            <a:spLocks/>
          </p:cNvSpPr>
          <p:nvPr/>
        </p:nvSpPr>
        <p:spPr>
          <a:xfrm>
            <a:off x="8052998" y="1104389"/>
            <a:ext cx="1518984" cy="647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i="1" dirty="0">
                <a:solidFill>
                  <a:srgbClr val="232323"/>
                </a:solidFill>
              </a:rPr>
              <a:t>Итог</a:t>
            </a:r>
            <a:endParaRPr lang="ru-KZ" b="1" i="1" dirty="0">
              <a:solidFill>
                <a:srgbClr val="232323"/>
              </a:solidFill>
            </a:endParaRP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5C6944FC-2278-5C34-37C7-A994141C6547}"/>
              </a:ext>
            </a:extLst>
          </p:cNvPr>
          <p:cNvSpPr txBox="1">
            <a:spLocks/>
          </p:cNvSpPr>
          <p:nvPr/>
        </p:nvSpPr>
        <p:spPr>
          <a:xfrm>
            <a:off x="2678462" y="1610235"/>
            <a:ext cx="6163879" cy="916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KZ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00B198-A294-F304-BFAA-AA0223E16B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804" y="235372"/>
            <a:ext cx="5887152" cy="8032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k-KZ" altLang="ru-KZ" sz="2400" b="1" i="0" u="none" strike="noStrike" cap="none" normalizeH="0" baseline="0" dirty="0">
                <a:ln>
                  <a:noFill/>
                </a:ln>
                <a:solidFill>
                  <a:srgbClr val="7CCA96"/>
                </a:solidFill>
                <a:effectLst/>
                <a:latin typeface="+mj-lt"/>
              </a:rPr>
              <a:t>   </a:t>
            </a:r>
            <a:r>
              <a:rPr kumimoji="0" lang="ru-KZ" altLang="ru-KZ" sz="2400" b="1" i="0" u="none" strike="noStrike" cap="none" normalizeH="0" baseline="0" dirty="0" err="1">
                <a:ln>
                  <a:noFill/>
                </a:ln>
                <a:solidFill>
                  <a:srgbClr val="7CCA96"/>
                </a:solidFill>
                <a:effectLst/>
                <a:latin typeface="+mj-lt"/>
              </a:rPr>
              <a:t>Управл</a:t>
            </a:r>
            <a:r>
              <a:rPr kumimoji="0" lang="kk-KZ" altLang="ru-KZ" sz="2400" b="1" i="0" u="none" strike="noStrike" cap="none" normalizeH="0" baseline="0" dirty="0">
                <a:ln>
                  <a:noFill/>
                </a:ln>
                <a:solidFill>
                  <a:srgbClr val="7CCA96"/>
                </a:solidFill>
                <a:effectLst/>
                <a:latin typeface="+mj-lt"/>
              </a:rPr>
              <a:t>ение </a:t>
            </a:r>
            <a:r>
              <a:rPr kumimoji="0" lang="ru-KZ" altLang="ru-KZ" sz="2400" b="1" i="0" u="none" strike="noStrike" cap="none" normalizeH="0" baseline="0" dirty="0">
                <a:ln>
                  <a:noFill/>
                </a:ln>
                <a:solidFill>
                  <a:srgbClr val="7CCA96"/>
                </a:solidFill>
                <a:effectLst/>
                <a:latin typeface="+mj-lt"/>
              </a:rPr>
              <a:t>потоками. </a:t>
            </a:r>
            <a:r>
              <a:rPr lang="kk-KZ" altLang="ru-KZ" sz="2400" dirty="0">
                <a:solidFill>
                  <a:schemeClr val="bg1"/>
                </a:solidFill>
                <a:latin typeface="+mj-lt"/>
              </a:rPr>
              <a:t>Приложение</a:t>
            </a:r>
            <a:r>
              <a:rPr kumimoji="0" lang="ru-KZ" altLang="ru-KZ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</a:t>
            </a:r>
            <a:r>
              <a:rPr kumimoji="0" lang="kk-KZ" altLang="ru-KZ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автомотически</a:t>
            </a:r>
            <a:r>
              <a:rPr kumimoji="0" lang="ru-KZ" altLang="ru-KZ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уводи</a:t>
            </a:r>
            <a:r>
              <a:rPr kumimoji="0" lang="kk-KZ" altLang="ru-KZ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т</a:t>
            </a:r>
            <a:r>
              <a:rPr kumimoji="0" lang="ru-KZ" altLang="ru-KZ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людей из опасных зон одной кнопкой.</a:t>
            </a:r>
            <a:endParaRPr kumimoji="0" lang="kk-KZ" altLang="ru-KZ" sz="24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ru-KZ" altLang="ru-KZ" sz="24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k-KZ" altLang="ru-KZ" sz="2400" b="1" i="0" u="none" strike="noStrike" cap="none" normalizeH="0" baseline="0" dirty="0">
                <a:ln>
                  <a:noFill/>
                </a:ln>
                <a:solidFill>
                  <a:srgbClr val="7CCA96"/>
                </a:solidFill>
                <a:effectLst/>
                <a:latin typeface="+mj-lt"/>
              </a:rPr>
              <a:t>   </a:t>
            </a:r>
            <a:r>
              <a:rPr kumimoji="0" lang="ru-KZ" altLang="ru-KZ" sz="2400" b="1" i="0" u="none" strike="noStrike" cap="none" normalizeH="0" baseline="0" dirty="0">
                <a:ln>
                  <a:noFill/>
                </a:ln>
                <a:solidFill>
                  <a:srgbClr val="7CCA96"/>
                </a:solidFill>
                <a:effectLst/>
                <a:latin typeface="+mj-lt"/>
              </a:rPr>
              <a:t>Безопасность. </a:t>
            </a:r>
            <a:endParaRPr lang="kk-KZ" altLang="ru-KZ" sz="2400" b="1" dirty="0">
              <a:solidFill>
                <a:srgbClr val="7CCA96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KZ" altLang="ru-KZ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Снижаем вероятность ЧП в местах массового скопления.</a:t>
            </a:r>
            <a:endParaRPr kumimoji="0" lang="kk-KZ" altLang="ru-KZ" sz="24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kk-KZ" altLang="ru-KZ" sz="24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rgbClr val="7CCA96"/>
                </a:solidFill>
              </a:rPr>
              <a:t>Аналитика в реальном времени</a:t>
            </a:r>
          </a:p>
          <a:p>
            <a:r>
              <a:rPr lang="ru-RU" sz="2400" dirty="0">
                <a:solidFill>
                  <a:schemeClr val="bg1"/>
                </a:solidFill>
              </a:rPr>
              <a:t>Анализ данных в режиме реального времени.</a:t>
            </a:r>
          </a:p>
          <a:p>
            <a:endParaRPr lang="ru-RU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rgbClr val="7CCA96"/>
                </a:solidFill>
              </a:rPr>
              <a:t> Прогнозирование, а не реакция</a:t>
            </a:r>
          </a:p>
          <a:p>
            <a:r>
              <a:rPr lang="ru-RU" sz="2400" dirty="0">
                <a:solidFill>
                  <a:schemeClr val="bg1"/>
                </a:solidFill>
              </a:rPr>
              <a:t>Не просто “реагируем на ЧП”, а</a:t>
            </a:r>
          </a:p>
          <a:p>
            <a:r>
              <a:rPr lang="ru-RU" sz="2400" dirty="0">
                <a:solidFill>
                  <a:schemeClr val="bg1"/>
                </a:solidFill>
              </a:rPr>
              <a:t>предсказываем повышение риска до возникновения инцидента.</a:t>
            </a:r>
          </a:p>
          <a:p>
            <a:endParaRPr lang="ru-RU" sz="2400" dirty="0">
              <a:solidFill>
                <a:schemeClr val="bg1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ru-KZ" altLang="ru-KZ" sz="28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  <a:p>
            <a:endParaRPr lang="ru-RU" sz="2800" dirty="0">
              <a:solidFill>
                <a:schemeClr val="bg1"/>
              </a:solidFill>
            </a:endParaRPr>
          </a:p>
          <a:p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491530-A38E-1F4A-D859-39B0077B4287}"/>
              </a:ext>
            </a:extLst>
          </p:cNvPr>
          <p:cNvSpPr txBox="1"/>
          <p:nvPr/>
        </p:nvSpPr>
        <p:spPr>
          <a:xfrm>
            <a:off x="7193597" y="1954500"/>
            <a:ext cx="31648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2400" b="1" dirty="0" err="1">
                <a:solidFill>
                  <a:srgbClr val="7CCA96"/>
                </a:solidFill>
              </a:rPr>
              <a:t>Qadam</a:t>
            </a:r>
            <a:r>
              <a:rPr lang="ru-RU" sz="2400" b="1" dirty="0">
                <a:solidFill>
                  <a:srgbClr val="7CCA96"/>
                </a:solidFill>
              </a:rPr>
              <a:t> – ваша безопасность в каждом шаге.</a:t>
            </a:r>
            <a:r>
              <a:rPr kumimoji="0" lang="ru-KZ" altLang="ru-KZ" sz="2400" b="1" i="0" u="none" strike="noStrike" cap="none" normalizeH="0" baseline="0" dirty="0">
                <a:ln>
                  <a:noFill/>
                </a:ln>
                <a:solidFill>
                  <a:srgbClr val="7CCA96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ru-RU" altLang="ru-KZ" sz="2400" b="1" i="0" u="none" strike="noStrike" cap="none" normalizeH="0" baseline="0" dirty="0">
              <a:ln>
                <a:noFill/>
              </a:ln>
              <a:solidFill>
                <a:srgbClr val="7CCA96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9FE7E1-041F-B97D-7B34-E5FD835D5374}"/>
              </a:ext>
            </a:extLst>
          </p:cNvPr>
          <p:cNvSpPr txBox="1"/>
          <p:nvPr/>
        </p:nvSpPr>
        <p:spPr>
          <a:xfrm>
            <a:off x="9333028" y="4114655"/>
            <a:ext cx="2608406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k-KZ" sz="2800" b="1" i="1" dirty="0">
                <a:solidFill>
                  <a:schemeClr val="bg1"/>
                </a:solidFill>
              </a:rPr>
              <a:t>Команда: </a:t>
            </a:r>
          </a:p>
          <a:p>
            <a:pPr algn="r"/>
            <a:r>
              <a:rPr lang="kk-KZ" sz="2800" b="1" i="1" dirty="0">
                <a:solidFill>
                  <a:schemeClr val="bg1"/>
                </a:solidFill>
              </a:rPr>
              <a:t>Б. </a:t>
            </a:r>
            <a:r>
              <a:rPr lang="kk-KZ" sz="2800" b="1" i="1" dirty="0" err="1">
                <a:solidFill>
                  <a:schemeClr val="bg1"/>
                </a:solidFill>
              </a:rPr>
              <a:t>Нұрислам</a:t>
            </a:r>
            <a:r>
              <a:rPr lang="kk-KZ" sz="2800" b="1" i="1" dirty="0">
                <a:solidFill>
                  <a:schemeClr val="bg1"/>
                </a:solidFill>
              </a:rPr>
              <a:t>;</a:t>
            </a:r>
          </a:p>
          <a:p>
            <a:pPr algn="r"/>
            <a:r>
              <a:rPr lang="kk-KZ" sz="2800" b="1" i="1" dirty="0">
                <a:solidFill>
                  <a:schemeClr val="bg1"/>
                </a:solidFill>
              </a:rPr>
              <a:t>П. Темирлан;</a:t>
            </a:r>
          </a:p>
          <a:p>
            <a:pPr algn="r"/>
            <a:r>
              <a:rPr lang="kk-KZ" sz="2800" b="1" i="1" dirty="0">
                <a:solidFill>
                  <a:schemeClr val="bg1"/>
                </a:solidFill>
              </a:rPr>
              <a:t> О. Ескендір;</a:t>
            </a:r>
          </a:p>
          <a:p>
            <a:pPr algn="r"/>
            <a:r>
              <a:rPr lang="kk-KZ" sz="2800" b="1" i="1" dirty="0">
                <a:solidFill>
                  <a:schemeClr val="bg1"/>
                </a:solidFill>
              </a:rPr>
              <a:t>Қ</a:t>
            </a:r>
            <a:r>
              <a:rPr lang="ru-RU" sz="2800" b="1" i="1" dirty="0">
                <a:solidFill>
                  <a:schemeClr val="bg1"/>
                </a:solidFill>
              </a:rPr>
              <a:t>.</a:t>
            </a:r>
            <a:r>
              <a:rPr lang="kk-KZ" sz="2800" b="1" i="1" dirty="0">
                <a:solidFill>
                  <a:schemeClr val="bg1"/>
                </a:solidFill>
              </a:rPr>
              <a:t> Ерасыл</a:t>
            </a:r>
            <a:endParaRPr lang="ru-KZ" sz="2800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7258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1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360</Words>
  <Application>Microsoft Office PowerPoint</Application>
  <PresentationFormat>Широкоэкранный</PresentationFormat>
  <Paragraphs>48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Century Gothic</vt:lpstr>
      <vt:lpstr>Тема Office</vt:lpstr>
      <vt:lpstr>Qadam</vt:lpstr>
      <vt:lpstr>Qadam</vt:lpstr>
      <vt:lpstr>Проблема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КГУ 53</dc:creator>
  <cp:lastModifiedBy>Ескендiр Омарбай</cp:lastModifiedBy>
  <cp:revision>3</cp:revision>
  <dcterms:created xsi:type="dcterms:W3CDTF">2026-02-16T23:50:07Z</dcterms:created>
  <dcterms:modified xsi:type="dcterms:W3CDTF">2026-02-17T09:26:24Z</dcterms:modified>
</cp:coreProperties>
</file>